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96FF"/>
                </a:solidFill>
              </a:defRPr>
            </a:pPr>
            <a:r>
              <a:t>TEAM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22C55E"/>
                </a:solidFill>
              </a:defRPr>
            </a:pPr>
            <a:r>
              <a:t>Backend API &amp;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D2E6"/>
                </a:solidFill>
              </a:defRPr>
            </a:pPr>
            <a:r>
              <a:t>DSD 2025-2026 · UTAD × Jilin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96FF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05840"/>
            <a:ext cx="3657600" cy="0"/>
          </a:xfrm>
          <a:prstGeom prst="rect">
            <a:avLst/>
          </a:prstGeom>
          <a:ln w="381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2103120" cy="1097280"/>
          </a:xfrm>
          <a:prstGeom prst="roundRect">
            <a:avLst/>
          </a:prstGeom>
          <a:solidFill>
            <a:srgbClr val="009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Central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371600"/>
            <a:ext cx="2103120" cy="1097280"/>
          </a:xfrm>
          <a:prstGeom prst="round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 Team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2103120" cy="1097280"/>
          </a:xfrm>
          <a:prstGeom prst="roundRect">
            <a:avLst/>
          </a:prstGeom>
          <a:solidFill>
            <a:srgbClr val="FF8C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REST API + WebSocket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Core backend for rehabilitation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Integrates 5 teams: Sensors, AI, Mobile, Dashboard, Hardware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Responsibility: data processing, storage, coordination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Real-time communication via WebSocket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96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05840"/>
            <a:ext cx="3657600" cy="0"/>
          </a:xfrm>
          <a:prstGeom prst="rect">
            <a:avLst/>
          </a:prstGeom>
          <a:ln w="381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645920" cy="822960"/>
          </a:xfrm>
          <a:prstGeom prst="roundRect">
            <a:avLst/>
          </a:prstGeom>
          <a:solidFill>
            <a:srgbClr val="FF64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SENSORS</a:t>
            </a:r>
            <a:br/>
            <a:r>
              <a:t>(S2)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371600"/>
            <a:ext cx="1645920" cy="822960"/>
          </a:xfrm>
          <a:prstGeom prst="roundRect">
            <a:avLst/>
          </a:prstGeom>
          <a:solidFill>
            <a:srgbClr val="009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V2 BACKEND</a:t>
            </a:r>
            <a:br/>
            <a:r>
              <a:t>(Node.js)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1645920" cy="822960"/>
          </a:xfrm>
          <a:prstGeom prst="round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</a:t>
            </a:r>
            <a:br/>
            <a:r>
              <a:t>(V1)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474720"/>
            <a:ext cx="1645920" cy="822960"/>
          </a:xfrm>
          <a:prstGeom prst="roundRect">
            <a:avLst/>
          </a:prstGeom>
          <a:solidFill>
            <a:srgbClr val="FF8C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DATABASE</a:t>
            </a:r>
            <a:br/>
            <a:r>
              <a:t>(SQLite)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474720"/>
            <a:ext cx="1645920" cy="822960"/>
          </a:xfrm>
          <a:prstGeom prst="roundRect">
            <a:avLst/>
          </a:prstGeom>
          <a:solidFill>
            <a:srgbClr val="C86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APPS</a:t>
            </a:r>
            <a:br/>
            <a:r>
              <a:t>(M1, M2)</a:t>
            </a:r>
          </a:p>
        </p:txBody>
      </p:sp>
      <p:cxnSp>
        <p:nvCxnSpPr>
          <p:cNvPr id="9" name="Connector 8"/>
          <p:cNvCxnSpPr>
            <a:cxnSpLocks/>
            <a:stCxn id="4" idx="3"/>
            <a:endCxn id="5" idx="1"/>
          </p:cNvCxnSpPr>
          <p:nvPr/>
        </p:nvCxnSpPr>
        <p:spPr>
          <a:xfrm>
            <a:off x="2377440" y="1783080"/>
            <a:ext cx="1280160" cy="0"/>
          </a:xfrm>
          <a:prstGeom prst="line">
            <a:avLst/>
          </a:prstGeom>
          <a:ln w="25400">
            <a:solidFill>
              <a:srgbClr val="C8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  <a:endCxn id="6" idx="1"/>
          </p:cNvCxnSpPr>
          <p:nvPr/>
        </p:nvCxnSpPr>
        <p:spPr>
          <a:xfrm>
            <a:off x="5363662" y="1783080"/>
            <a:ext cx="1220018" cy="0"/>
          </a:xfrm>
          <a:prstGeom prst="line">
            <a:avLst/>
          </a:prstGeom>
          <a:ln w="25400">
            <a:solidFill>
              <a:srgbClr val="C8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7" idx="0"/>
          </p:cNvCxnSpPr>
          <p:nvPr/>
        </p:nvCxnSpPr>
        <p:spPr>
          <a:xfrm flipH="1">
            <a:off x="2651760" y="2194560"/>
            <a:ext cx="1828800" cy="1280160"/>
          </a:xfrm>
          <a:prstGeom prst="line">
            <a:avLst/>
          </a:prstGeom>
          <a:ln w="25400">
            <a:solidFill>
              <a:srgbClr val="C8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endCxn id="8" idx="0"/>
          </p:cNvCxnSpPr>
          <p:nvPr/>
        </p:nvCxnSpPr>
        <p:spPr>
          <a:xfrm>
            <a:off x="4480560" y="2194560"/>
            <a:ext cx="1828800" cy="1280160"/>
          </a:xfrm>
          <a:prstGeom prst="line">
            <a:avLst/>
          </a:prstGeom>
          <a:ln w="25400">
            <a:solidFill>
              <a:srgbClr val="C8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75488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D2E6"/>
                </a:solidFill>
              </a:defRPr>
            </a:pPr>
            <a:r>
              <a:t>Sensors → Backend → Database &amp; AI →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96FF"/>
                </a:solidFill>
              </a:defRPr>
            </a:pPr>
            <a:r>
              <a:t>Tech Stack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05840"/>
            <a:ext cx="3657600" cy="0"/>
          </a:xfrm>
          <a:prstGeom prst="rect">
            <a:avLst/>
          </a:prstGeom>
          <a:ln w="381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60707" y="1670317"/>
            <a:ext cx="1797044" cy="1514590"/>
          </a:xfrm>
          <a:prstGeom prst="roundRect">
            <a:avLst/>
          </a:prstGeom>
          <a:solidFill>
            <a:srgbClr val="009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Node.js</a:t>
            </a:r>
            <a:br>
              <a:rPr dirty="0"/>
            </a:br>
            <a:r>
              <a:rPr dirty="0"/>
              <a:t>+ 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32624" y="1652364"/>
            <a:ext cx="1678752" cy="1514590"/>
          </a:xfrm>
          <a:prstGeom prst="round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SQLite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6250" y="1645920"/>
            <a:ext cx="1678753" cy="1514590"/>
          </a:xfrm>
          <a:prstGeom prst="roundRect">
            <a:avLst/>
          </a:prstGeom>
          <a:solidFill>
            <a:srgbClr val="FF8C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MVC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2076" y="3488069"/>
            <a:ext cx="1727848" cy="1501853"/>
          </a:xfrm>
          <a:prstGeom prst="roundRect">
            <a:avLst/>
          </a:prstGeom>
          <a:solidFill>
            <a:srgbClr val="C86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JWT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652" y="3428999"/>
            <a:ext cx="1727849" cy="1560923"/>
          </a:xfrm>
          <a:prstGeom prst="roundRect">
            <a:avLst/>
          </a:prstGeom>
          <a:solidFill>
            <a:srgbClr val="FF64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WebSocket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6250" y="3428999"/>
            <a:ext cx="1727849" cy="1514589"/>
          </a:xfrm>
          <a:prstGeom prst="roundRect">
            <a:avLst/>
          </a:prstGeom>
          <a:solidFill>
            <a:srgbClr val="64C8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RBAC +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96FF"/>
                </a:solidFill>
              </a:defRPr>
            </a:pPr>
            <a:r>
              <a:t>API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05840"/>
            <a:ext cx="3657600" cy="0"/>
          </a:xfrm>
          <a:prstGeom prst="rect">
            <a:avLst/>
          </a:prstGeom>
          <a:ln w="381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645920" cy="685800"/>
          </a:xfrm>
          <a:prstGeom prst="roundRect">
            <a:avLst/>
          </a:prstGeom>
          <a:solidFill>
            <a:srgbClr val="009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39" y="1463040"/>
            <a:ext cx="1645920" cy="685800"/>
          </a:xfrm>
          <a:prstGeom prst="round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1645920" cy="685800"/>
          </a:xfrm>
          <a:prstGeom prst="roundRect">
            <a:avLst/>
          </a:prstGeom>
          <a:solidFill>
            <a:srgbClr val="FF8C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Patients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59" y="1463040"/>
            <a:ext cx="1645920" cy="685800"/>
          </a:xfrm>
          <a:prstGeom prst="roundRect">
            <a:avLst/>
          </a:prstGeom>
          <a:solidFill>
            <a:srgbClr val="C86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1645920" cy="685800"/>
          </a:xfrm>
          <a:prstGeom prst="roundRect">
            <a:avLst/>
          </a:prstGeom>
          <a:solidFill>
            <a:srgbClr val="009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Measurements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2514600"/>
            <a:ext cx="1645920" cy="685800"/>
          </a:xfrm>
          <a:prstGeom prst="round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14600"/>
            <a:ext cx="1645920" cy="685800"/>
          </a:xfrm>
          <a:prstGeom prst="roundRect">
            <a:avLst/>
          </a:prstGeom>
          <a:solidFill>
            <a:srgbClr val="FF8C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Schedule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59" y="2514600"/>
            <a:ext cx="1645920" cy="685800"/>
          </a:xfrm>
          <a:prstGeom prst="roundRect">
            <a:avLst/>
          </a:prstGeom>
          <a:solidFill>
            <a:srgbClr val="C86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Push Notifications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66160"/>
            <a:ext cx="1645920" cy="685800"/>
          </a:xfrm>
          <a:prstGeom prst="roundRect">
            <a:avLst/>
          </a:prstGeom>
          <a:solidFill>
            <a:srgbClr val="009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39" y="3566160"/>
            <a:ext cx="1645920" cy="685800"/>
          </a:xfrm>
          <a:prstGeom prst="round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Announcements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566160"/>
            <a:ext cx="1645920" cy="685800"/>
          </a:xfrm>
          <a:prstGeom prst="roundRect">
            <a:avLst/>
          </a:prstGeom>
          <a:solidFill>
            <a:srgbClr val="FF8C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Audit Logs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59" y="3566160"/>
            <a:ext cx="1645920" cy="685800"/>
          </a:xfrm>
          <a:prstGeom prst="roundRect">
            <a:avLst/>
          </a:prstGeom>
          <a:solidFill>
            <a:srgbClr val="C86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Progress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96FF"/>
                </a:solidFill>
              </a:defRPr>
            </a:pPr>
            <a:r>
              <a:t>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05840"/>
            <a:ext cx="3657600" cy="0"/>
          </a:xfrm>
          <a:prstGeom prst="rect">
            <a:avLst/>
          </a:prstGeom>
          <a:ln w="381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645920" cy="868680"/>
          </a:xfrm>
          <a:prstGeom prst="roundRect">
            <a:avLst/>
          </a:prstGeom>
          <a:solidFill>
            <a:srgbClr val="0096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463040"/>
            <a:ext cx="1645920" cy="868680"/>
          </a:xfrm>
          <a:prstGeom prst="roundRect">
            <a:avLst/>
          </a:prstGeom>
          <a:solidFill>
            <a:srgbClr val="22C55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63040"/>
            <a:ext cx="1645920" cy="868680"/>
          </a:xfrm>
          <a:prstGeom prst="roundRect">
            <a:avLst/>
          </a:prstGeom>
          <a:solidFill>
            <a:srgbClr val="FF8C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Measurements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1645920" cy="868680"/>
          </a:xfrm>
          <a:prstGeom prst="roundRect">
            <a:avLst/>
          </a:prstGeom>
          <a:solidFill>
            <a:srgbClr val="C864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1-N: Users → Sessions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1-N: Sessions → Measurements (100+ per session)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1-N: Sessions →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N-N: Clinician ↔ Patient (via Sessions)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Each session has action_type: walk, squat, climb_stairs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96FF"/>
                </a:solidFill>
              </a:defRPr>
            </a:pPr>
            <a:r>
              <a:t>Advanced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05840"/>
            <a:ext cx="3657600" cy="0"/>
          </a:xfrm>
          <a:prstGeom prst="rect">
            <a:avLst/>
          </a:prstGeom>
          <a:ln w="381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828800" cy="2103120"/>
          </a:xfrm>
          <a:prstGeom prst="roundRect">
            <a:avLst/>
          </a:prstGeom>
          <a:solidFill>
            <a:srgbClr val="009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JWT Auth</a:t>
            </a:r>
          </a:p>
          <a:p>
            <a:br/>
            <a:r>
              <a:t>Stateless</a:t>
            </a:r>
            <a:br/>
            <a:r>
              <a:t>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645920"/>
            <a:ext cx="1828800" cy="2103120"/>
          </a:xfrm>
          <a:prstGeom prst="round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WebSocket</a:t>
            </a:r>
          </a:p>
          <a:p>
            <a:br/>
            <a:r>
              <a:t>Real-time</a:t>
            </a:r>
            <a:br/>
            <a:r>
              <a:t>notifications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645920"/>
            <a:ext cx="1828800" cy="2103120"/>
          </a:xfrm>
          <a:prstGeom prst="roundRect">
            <a:avLst/>
          </a:prstGeom>
          <a:solidFill>
            <a:srgbClr val="FF8C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Audit Logs</a:t>
            </a:r>
          </a:p>
          <a:p>
            <a:br/>
            <a:r>
              <a:t>Complete</a:t>
            </a:r>
            <a:br/>
            <a:r>
              <a:t>traceability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1828800" cy="2103120"/>
          </a:xfrm>
          <a:prstGeom prst="roundRect">
            <a:avLst/>
          </a:prstGeom>
          <a:solidFill>
            <a:srgbClr val="C86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RBAC</a:t>
            </a:r>
          </a:p>
          <a:p>
            <a:br/>
            <a:r>
              <a:t>Role-based</a:t>
            </a:r>
            <a:br/>
            <a:r>
              <a:t>access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96FF"/>
                </a:solidFill>
              </a:defRPr>
            </a:pPr>
            <a:r>
              <a:t>Integration with 5 Teams</a:t>
            </a:r>
          </a:p>
        </p:txBody>
      </p:sp>
      <p:sp>
        <p:nvSpPr>
          <p:cNvPr id="4" name="Oval 3"/>
          <p:cNvSpPr/>
          <p:nvPr/>
        </p:nvSpPr>
        <p:spPr>
          <a:xfrm>
            <a:off x="3846617" y="3291840"/>
            <a:ext cx="1463040" cy="1463040"/>
          </a:xfrm>
          <a:prstGeom prst="ellipse">
            <a:avLst/>
          </a:prstGeom>
          <a:solidFill>
            <a:srgbClr val="0F2041"/>
          </a:solidFill>
          <a:ln w="381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V2</a:t>
            </a:r>
            <a:br/>
            <a:r>
              <a:t>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822960"/>
            <a:ext cx="1371600" cy="822960"/>
          </a:xfrm>
          <a:prstGeom prst="roundRect">
            <a:avLst/>
          </a:prstGeom>
          <a:solidFill>
            <a:srgbClr val="FF64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S2</a:t>
            </a:r>
            <a:br/>
            <a:r>
              <a:t>Sensors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34440" y="1645920"/>
            <a:ext cx="3337560" cy="1645919"/>
          </a:xfrm>
          <a:prstGeom prst="line">
            <a:avLst/>
          </a:prstGeom>
          <a:ln w="25400">
            <a:solidFill>
              <a:srgbClr val="C8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737360" y="822960"/>
            <a:ext cx="1371600" cy="822960"/>
          </a:xfrm>
          <a:prstGeom prst="round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V1</a:t>
            </a:r>
            <a:br/>
            <a:r>
              <a:t>AI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1645920"/>
            <a:ext cx="2148840" cy="1645919"/>
          </a:xfrm>
          <a:prstGeom prst="line">
            <a:avLst/>
          </a:prstGeom>
          <a:ln w="25400">
            <a:solidFill>
              <a:srgbClr val="C8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822960"/>
            <a:ext cx="1371600" cy="822960"/>
          </a:xfrm>
          <a:prstGeom prst="roundRect">
            <a:avLst/>
          </a:prstGeom>
          <a:solidFill>
            <a:srgbClr val="FF8C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M1</a:t>
            </a:r>
            <a:br/>
            <a:r>
              <a:t>Mobile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1880" y="1645920"/>
            <a:ext cx="960120" cy="1645919"/>
          </a:xfrm>
          <a:prstGeom prst="line">
            <a:avLst/>
          </a:prstGeom>
          <a:ln w="25400">
            <a:solidFill>
              <a:srgbClr val="C8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0" y="822960"/>
            <a:ext cx="1371600" cy="822960"/>
          </a:xfrm>
          <a:prstGeom prst="roundRect">
            <a:avLst/>
          </a:prstGeom>
          <a:solidFill>
            <a:srgbClr val="C86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M2</a:t>
            </a:r>
            <a:br/>
            <a:r>
              <a:t>Dash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572000" y="1645920"/>
            <a:ext cx="1600200" cy="1645919"/>
          </a:xfrm>
          <a:prstGeom prst="line">
            <a:avLst/>
          </a:prstGeom>
          <a:ln w="25400">
            <a:solidFill>
              <a:srgbClr val="C8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79" y="822960"/>
            <a:ext cx="1371600" cy="822960"/>
          </a:xfrm>
          <a:prstGeom prst="roundRect">
            <a:avLst/>
          </a:prstGeom>
          <a:solidFill>
            <a:srgbClr val="FF64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H/W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0" y="1645920"/>
            <a:ext cx="3611879" cy="1645919"/>
          </a:xfrm>
          <a:prstGeom prst="line">
            <a:avLst/>
          </a:prstGeom>
          <a:ln w="25400">
            <a:solidFill>
              <a:srgbClr val="C8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D2E6"/>
                </a:solidFill>
              </a:defRPr>
            </a:pPr>
            <a:r>
              <a:t>We are the central hub - without us, all teams are isolated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96FF"/>
                </a:solidFill>
              </a:defRPr>
            </a:pPr>
            <a:r>
              <a:t>Technical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05840"/>
            <a:ext cx="3657600" cy="0"/>
          </a:xfrm>
          <a:prstGeom prst="rect">
            <a:avLst/>
          </a:prstGeom>
          <a:ln w="381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828800" cy="822960"/>
          </a:xfrm>
          <a:prstGeom prst="roundRect">
            <a:avLst/>
          </a:prstGeom>
          <a:solidFill>
            <a:srgbClr val="FF64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Real-time</a:t>
            </a:r>
            <a:br/>
            <a:r>
              <a:t>Latency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1828800" cy="1463040"/>
          </a:xfrm>
          <a:prstGeom prst="roundRect">
            <a:avLst/>
          </a:prstGeom>
          <a:solidFill>
            <a:srgbClr val="B2464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Strategic</a:t>
            </a:r>
            <a:br/>
            <a:r>
              <a:t>indexing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39" y="1463040"/>
            <a:ext cx="1828800" cy="822960"/>
          </a:xfrm>
          <a:prstGeom prst="roundRect">
            <a:avLst/>
          </a:prstGeom>
          <a:solidFill>
            <a:srgbClr val="FF8C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</a:t>
            </a:r>
            <a:br/>
            <a:r>
              <a:t>Volume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39" y="2468880"/>
            <a:ext cx="1828800" cy="1463040"/>
          </a:xfrm>
          <a:prstGeom prst="roundRect">
            <a:avLst/>
          </a:prstGeom>
          <a:solidFill>
            <a:srgbClr val="B262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Batch</a:t>
            </a:r>
            <a:br/>
            <a:r>
              <a:t>inserts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1828800" cy="822960"/>
          </a:xfrm>
          <a:prstGeom prst="roundRect">
            <a:avLst/>
          </a:prstGeom>
          <a:solidFill>
            <a:srgbClr val="C86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468880"/>
            <a:ext cx="1828800" cy="1463040"/>
          </a:xfrm>
          <a:prstGeom prst="roundRect">
            <a:avLst/>
          </a:prstGeom>
          <a:solidFill>
            <a:srgbClr val="8C46B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RBAC +</a:t>
            </a:r>
            <a:br/>
            <a:r>
              <a:t>audit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59" y="1463040"/>
            <a:ext cx="1828800" cy="822960"/>
          </a:xfrm>
          <a:prstGeom prst="round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Scalability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59" y="2468880"/>
            <a:ext cx="1828800" cy="1463040"/>
          </a:xfrm>
          <a:prstGeom prst="roundRect">
            <a:avLst/>
          </a:prstGeom>
          <a:solidFill>
            <a:srgbClr val="17894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Stateless</a:t>
            </a:r>
            <a:br/>
            <a:r>
              <a:t>JWT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96FF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05840"/>
            <a:ext cx="3657600" cy="0"/>
          </a:xfrm>
          <a:prstGeom prst="rect">
            <a:avLst/>
          </a:prstGeom>
          <a:ln w="381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840480" cy="3017520"/>
          </a:xfrm>
          <a:prstGeom prst="round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ACHIEVED</a:t>
            </a:r>
          </a:p>
          <a:p>
            <a:pPr algn="ctr">
              <a:spcBef>
                <a:spcPts val="400"/>
              </a:spcBef>
              <a:defRPr sz="1300">
                <a:solidFill>
                  <a:srgbClr val="C8D2E6"/>
                </a:solidFill>
              </a:defRPr>
            </a:pPr>
            <a:r>
              <a:t>✓ Robust backend</a:t>
            </a:r>
          </a:p>
          <a:p>
            <a:pPr algn="ctr">
              <a:spcBef>
                <a:spcPts val="400"/>
              </a:spcBef>
              <a:defRPr sz="1300">
                <a:solidFill>
                  <a:srgbClr val="C8D2E6"/>
                </a:solidFill>
              </a:defRPr>
            </a:pPr>
            <a:r>
              <a:t>✓ Full integration</a:t>
            </a:r>
          </a:p>
          <a:p>
            <a:pPr algn="ctr">
              <a:spcBef>
                <a:spcPts val="400"/>
              </a:spcBef>
              <a:defRPr sz="1300">
                <a:solidFill>
                  <a:srgbClr val="C8D2E6"/>
                </a:solidFill>
              </a:defRPr>
            </a:pPr>
            <a:r>
              <a:t>✓ Production-ready</a:t>
            </a:r>
          </a:p>
          <a:p>
            <a:pPr algn="ctr">
              <a:spcBef>
                <a:spcPts val="400"/>
              </a:spcBef>
              <a:defRPr sz="1300">
                <a:solidFill>
                  <a:srgbClr val="C8D2E6"/>
                </a:solidFill>
              </a:defRPr>
            </a:pPr>
            <a:r>
              <a:t>✓ Well-documented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463040"/>
            <a:ext cx="3840480" cy="3017520"/>
          </a:xfrm>
          <a:prstGeom prst="roundRect">
            <a:avLst/>
          </a:prstGeom>
          <a:solidFill>
            <a:srgbClr val="FF8C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NEXT STEPS</a:t>
            </a:r>
          </a:p>
          <a:p>
            <a:pPr algn="ctr">
              <a:spcBef>
                <a:spcPts val="400"/>
              </a:spcBef>
              <a:defRPr sz="1300">
                <a:solidFill>
                  <a:srgbClr val="C8D2E6"/>
                </a:solidFill>
              </a:defRPr>
            </a:pPr>
            <a:r>
              <a:t>→ Performance opt.</a:t>
            </a:r>
          </a:p>
          <a:p>
            <a:pPr algn="ctr">
              <a:spcBef>
                <a:spcPts val="400"/>
              </a:spcBef>
              <a:defRPr sz="1300">
                <a:solidFill>
                  <a:srgbClr val="C8D2E6"/>
                </a:solidFill>
              </a:defRPr>
            </a:pPr>
            <a:r>
              <a:t>→ Horizontal scale</a:t>
            </a:r>
          </a:p>
          <a:p>
            <a:pPr algn="ctr">
              <a:spcBef>
                <a:spcPts val="400"/>
              </a:spcBef>
              <a:defRPr sz="1300">
                <a:solidFill>
                  <a:srgbClr val="C8D2E6"/>
                </a:solidFill>
              </a:defRPr>
            </a:pPr>
            <a:r>
              <a:t>→ DB migration</a:t>
            </a:r>
          </a:p>
          <a:p>
            <a:pPr algn="ctr">
              <a:spcBef>
                <a:spcPts val="400"/>
              </a:spcBef>
              <a:defRPr sz="1300">
                <a:solidFill>
                  <a:srgbClr val="C8D2E6"/>
                </a:solidFill>
              </a:defRPr>
            </a:pPr>
            <a:r>
              <a:t>→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D2E6"/>
                </a:solidFill>
              </a:defRPr>
            </a:pPr>
            <a:r>
              <a:t>Vision: Scalable, secure, distributed rehabilitation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310</Words>
  <Application>Microsoft Office PowerPoint</Application>
  <PresentationFormat>On-screen Show (4:3)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SÉRGIO MIGUEL PEREIRA MONIZ</cp:lastModifiedBy>
  <cp:revision>2</cp:revision>
  <dcterms:created xsi:type="dcterms:W3CDTF">2013-01-27T09:14:16Z</dcterms:created>
  <dcterms:modified xsi:type="dcterms:W3CDTF">2026-06-09T06:26:36Z</dcterms:modified>
  <cp:category/>
</cp:coreProperties>
</file>